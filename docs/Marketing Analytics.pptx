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6" r:id="rId8"/>
    <p:sldId id="268" r:id="rId9"/>
    <p:sldId id="269" r:id="rId10"/>
    <p:sldId id="270" r:id="rId11"/>
    <p:sldId id="271"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0" d="100"/>
          <a:sy n="70" d="100"/>
        </p:scale>
        <p:origin x="53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A9F29-7CA1-7154-0C47-37BF9EBB625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3692A44-0721-AF0F-8BAB-B8E92997066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CEFA85D-FCDF-DCF2-C6EC-B17308C00DF4}"/>
              </a:ext>
            </a:extLst>
          </p:cNvPr>
          <p:cNvSpPr>
            <a:spLocks noGrp="1"/>
          </p:cNvSpPr>
          <p:nvPr>
            <p:ph type="dt" sz="half" idx="10"/>
          </p:nvPr>
        </p:nvSpPr>
        <p:spPr/>
        <p:txBody>
          <a:bodyPr/>
          <a:lstStyle/>
          <a:p>
            <a:fld id="{8BD5AFDD-02A5-4CE2-AC38-36CAC1D036DD}" type="datetimeFigureOut">
              <a:rPr lang="en-IN" smtClean="0"/>
              <a:t>15-01-2026</a:t>
            </a:fld>
            <a:endParaRPr lang="en-IN"/>
          </a:p>
        </p:txBody>
      </p:sp>
      <p:sp>
        <p:nvSpPr>
          <p:cNvPr id="5" name="Footer Placeholder 4">
            <a:extLst>
              <a:ext uri="{FF2B5EF4-FFF2-40B4-BE49-F238E27FC236}">
                <a16:creationId xmlns:a16="http://schemas.microsoft.com/office/drawing/2014/main" id="{DAC0D7E9-F372-15EE-4145-A16FD1F256F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734548D-BEB1-06D8-DD83-49705CF9FFE6}"/>
              </a:ext>
            </a:extLst>
          </p:cNvPr>
          <p:cNvSpPr>
            <a:spLocks noGrp="1"/>
          </p:cNvSpPr>
          <p:nvPr>
            <p:ph type="sldNum" sz="quarter" idx="12"/>
          </p:nvPr>
        </p:nvSpPr>
        <p:spPr/>
        <p:txBody>
          <a:bodyPr/>
          <a:lstStyle/>
          <a:p>
            <a:fld id="{7BBE3C34-5782-43D9-AA18-7BBF17B68A5E}" type="slidenum">
              <a:rPr lang="en-IN" smtClean="0"/>
              <a:t>‹#›</a:t>
            </a:fld>
            <a:endParaRPr lang="en-IN"/>
          </a:p>
        </p:txBody>
      </p:sp>
    </p:spTree>
    <p:extLst>
      <p:ext uri="{BB962C8B-B14F-4D97-AF65-F5344CB8AC3E}">
        <p14:creationId xmlns:p14="http://schemas.microsoft.com/office/powerpoint/2010/main" val="146684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0B0221-055D-F05E-9034-F9F10469E13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6E85B7D-602A-DFCB-595A-049FE82DDEA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108C476-2066-4366-53E9-5EE68069D465}"/>
              </a:ext>
            </a:extLst>
          </p:cNvPr>
          <p:cNvSpPr>
            <a:spLocks noGrp="1"/>
          </p:cNvSpPr>
          <p:nvPr>
            <p:ph type="dt" sz="half" idx="10"/>
          </p:nvPr>
        </p:nvSpPr>
        <p:spPr/>
        <p:txBody>
          <a:bodyPr/>
          <a:lstStyle/>
          <a:p>
            <a:fld id="{8BD5AFDD-02A5-4CE2-AC38-36CAC1D036DD}" type="datetimeFigureOut">
              <a:rPr lang="en-IN" smtClean="0"/>
              <a:t>15-01-2026</a:t>
            </a:fld>
            <a:endParaRPr lang="en-IN"/>
          </a:p>
        </p:txBody>
      </p:sp>
      <p:sp>
        <p:nvSpPr>
          <p:cNvPr id="5" name="Footer Placeholder 4">
            <a:extLst>
              <a:ext uri="{FF2B5EF4-FFF2-40B4-BE49-F238E27FC236}">
                <a16:creationId xmlns:a16="http://schemas.microsoft.com/office/drawing/2014/main" id="{16272DB5-A193-C1FC-1DD9-FFCEA13575D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C8F912A-1EC9-8CE6-74C9-A98741E5870B}"/>
              </a:ext>
            </a:extLst>
          </p:cNvPr>
          <p:cNvSpPr>
            <a:spLocks noGrp="1"/>
          </p:cNvSpPr>
          <p:nvPr>
            <p:ph type="sldNum" sz="quarter" idx="12"/>
          </p:nvPr>
        </p:nvSpPr>
        <p:spPr/>
        <p:txBody>
          <a:bodyPr/>
          <a:lstStyle/>
          <a:p>
            <a:fld id="{7BBE3C34-5782-43D9-AA18-7BBF17B68A5E}" type="slidenum">
              <a:rPr lang="en-IN" smtClean="0"/>
              <a:t>‹#›</a:t>
            </a:fld>
            <a:endParaRPr lang="en-IN"/>
          </a:p>
        </p:txBody>
      </p:sp>
    </p:spTree>
    <p:extLst>
      <p:ext uri="{BB962C8B-B14F-4D97-AF65-F5344CB8AC3E}">
        <p14:creationId xmlns:p14="http://schemas.microsoft.com/office/powerpoint/2010/main" val="22646858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6BEC1-1CCA-DEC4-ACCF-356D750D030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8431725-A43A-E209-371B-83EF4D2497C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3B4C59D-255D-95B0-8F35-342C05323BA8}"/>
              </a:ext>
            </a:extLst>
          </p:cNvPr>
          <p:cNvSpPr>
            <a:spLocks noGrp="1"/>
          </p:cNvSpPr>
          <p:nvPr>
            <p:ph type="dt" sz="half" idx="10"/>
          </p:nvPr>
        </p:nvSpPr>
        <p:spPr/>
        <p:txBody>
          <a:bodyPr/>
          <a:lstStyle/>
          <a:p>
            <a:fld id="{8BD5AFDD-02A5-4CE2-AC38-36CAC1D036DD}" type="datetimeFigureOut">
              <a:rPr lang="en-IN" smtClean="0"/>
              <a:t>15-01-2026</a:t>
            </a:fld>
            <a:endParaRPr lang="en-IN"/>
          </a:p>
        </p:txBody>
      </p:sp>
      <p:sp>
        <p:nvSpPr>
          <p:cNvPr id="5" name="Footer Placeholder 4">
            <a:extLst>
              <a:ext uri="{FF2B5EF4-FFF2-40B4-BE49-F238E27FC236}">
                <a16:creationId xmlns:a16="http://schemas.microsoft.com/office/drawing/2014/main" id="{7F6FEB2F-A164-7DC2-3F9B-A72958A9355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F91C9EC-E2C3-51F0-1BC1-C66BF543BA36}"/>
              </a:ext>
            </a:extLst>
          </p:cNvPr>
          <p:cNvSpPr>
            <a:spLocks noGrp="1"/>
          </p:cNvSpPr>
          <p:nvPr>
            <p:ph type="sldNum" sz="quarter" idx="12"/>
          </p:nvPr>
        </p:nvSpPr>
        <p:spPr/>
        <p:txBody>
          <a:bodyPr/>
          <a:lstStyle/>
          <a:p>
            <a:fld id="{7BBE3C34-5782-43D9-AA18-7BBF17B68A5E}" type="slidenum">
              <a:rPr lang="en-IN" smtClean="0"/>
              <a:t>‹#›</a:t>
            </a:fld>
            <a:endParaRPr lang="en-IN"/>
          </a:p>
        </p:txBody>
      </p:sp>
    </p:spTree>
    <p:extLst>
      <p:ext uri="{BB962C8B-B14F-4D97-AF65-F5344CB8AC3E}">
        <p14:creationId xmlns:p14="http://schemas.microsoft.com/office/powerpoint/2010/main" val="15694986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8472CF-95E1-E89B-5886-F872607233A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8B6F7EF-2E37-809A-B97D-7D2AD00F023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55DBCD6-39C9-348A-B6CF-B961D0AF2D6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0A26481-96C5-214A-CD47-64F2B8408C47}"/>
              </a:ext>
            </a:extLst>
          </p:cNvPr>
          <p:cNvSpPr>
            <a:spLocks noGrp="1"/>
          </p:cNvSpPr>
          <p:nvPr>
            <p:ph type="dt" sz="half" idx="10"/>
          </p:nvPr>
        </p:nvSpPr>
        <p:spPr/>
        <p:txBody>
          <a:bodyPr/>
          <a:lstStyle/>
          <a:p>
            <a:fld id="{8BD5AFDD-02A5-4CE2-AC38-36CAC1D036DD}" type="datetimeFigureOut">
              <a:rPr lang="en-IN" smtClean="0"/>
              <a:t>15-01-2026</a:t>
            </a:fld>
            <a:endParaRPr lang="en-IN"/>
          </a:p>
        </p:txBody>
      </p:sp>
      <p:sp>
        <p:nvSpPr>
          <p:cNvPr id="6" name="Footer Placeholder 5">
            <a:extLst>
              <a:ext uri="{FF2B5EF4-FFF2-40B4-BE49-F238E27FC236}">
                <a16:creationId xmlns:a16="http://schemas.microsoft.com/office/drawing/2014/main" id="{B27616C0-DE95-A669-822E-39DEEBFB60A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F06E421-97E7-01A5-384A-7ABF617078B4}"/>
              </a:ext>
            </a:extLst>
          </p:cNvPr>
          <p:cNvSpPr>
            <a:spLocks noGrp="1"/>
          </p:cNvSpPr>
          <p:nvPr>
            <p:ph type="sldNum" sz="quarter" idx="12"/>
          </p:nvPr>
        </p:nvSpPr>
        <p:spPr/>
        <p:txBody>
          <a:bodyPr/>
          <a:lstStyle/>
          <a:p>
            <a:fld id="{7BBE3C34-5782-43D9-AA18-7BBF17B68A5E}" type="slidenum">
              <a:rPr lang="en-IN" smtClean="0"/>
              <a:t>‹#›</a:t>
            </a:fld>
            <a:endParaRPr lang="en-IN"/>
          </a:p>
        </p:txBody>
      </p:sp>
    </p:spTree>
    <p:extLst>
      <p:ext uri="{BB962C8B-B14F-4D97-AF65-F5344CB8AC3E}">
        <p14:creationId xmlns:p14="http://schemas.microsoft.com/office/powerpoint/2010/main" val="8726471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0E84A1-F69C-222D-EDFA-B0C68671B00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C40C91D-D46A-3ACB-CC6B-FF54AC9237F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3E36E9D-B134-43B4-A840-514957A5B65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38A8A70-F1E5-72FA-7EEB-4AB6D209EB3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F24E08D-3A63-2CC6-F01F-536DF34F3B8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7892876-2C29-1342-D75E-1048BBE2D6BC}"/>
              </a:ext>
            </a:extLst>
          </p:cNvPr>
          <p:cNvSpPr>
            <a:spLocks noGrp="1"/>
          </p:cNvSpPr>
          <p:nvPr>
            <p:ph type="dt" sz="half" idx="10"/>
          </p:nvPr>
        </p:nvSpPr>
        <p:spPr/>
        <p:txBody>
          <a:bodyPr/>
          <a:lstStyle/>
          <a:p>
            <a:fld id="{8BD5AFDD-02A5-4CE2-AC38-36CAC1D036DD}" type="datetimeFigureOut">
              <a:rPr lang="en-IN" smtClean="0"/>
              <a:t>15-01-2026</a:t>
            </a:fld>
            <a:endParaRPr lang="en-IN"/>
          </a:p>
        </p:txBody>
      </p:sp>
      <p:sp>
        <p:nvSpPr>
          <p:cNvPr id="8" name="Footer Placeholder 7">
            <a:extLst>
              <a:ext uri="{FF2B5EF4-FFF2-40B4-BE49-F238E27FC236}">
                <a16:creationId xmlns:a16="http://schemas.microsoft.com/office/drawing/2014/main" id="{276B30A6-975F-1AF0-49C7-74CDD794CE1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46AB2C3-928B-3922-C567-500C3D5BA4A1}"/>
              </a:ext>
            </a:extLst>
          </p:cNvPr>
          <p:cNvSpPr>
            <a:spLocks noGrp="1"/>
          </p:cNvSpPr>
          <p:nvPr>
            <p:ph type="sldNum" sz="quarter" idx="12"/>
          </p:nvPr>
        </p:nvSpPr>
        <p:spPr/>
        <p:txBody>
          <a:bodyPr/>
          <a:lstStyle/>
          <a:p>
            <a:fld id="{7BBE3C34-5782-43D9-AA18-7BBF17B68A5E}" type="slidenum">
              <a:rPr lang="en-IN" smtClean="0"/>
              <a:t>‹#›</a:t>
            </a:fld>
            <a:endParaRPr lang="en-IN"/>
          </a:p>
        </p:txBody>
      </p:sp>
    </p:spTree>
    <p:extLst>
      <p:ext uri="{BB962C8B-B14F-4D97-AF65-F5344CB8AC3E}">
        <p14:creationId xmlns:p14="http://schemas.microsoft.com/office/powerpoint/2010/main" val="25982178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03F505-FD30-AE8B-567E-23629331636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979B489-FE03-9B86-7859-E92773090C61}"/>
              </a:ext>
            </a:extLst>
          </p:cNvPr>
          <p:cNvSpPr>
            <a:spLocks noGrp="1"/>
          </p:cNvSpPr>
          <p:nvPr>
            <p:ph type="dt" sz="half" idx="10"/>
          </p:nvPr>
        </p:nvSpPr>
        <p:spPr/>
        <p:txBody>
          <a:bodyPr/>
          <a:lstStyle/>
          <a:p>
            <a:fld id="{8BD5AFDD-02A5-4CE2-AC38-36CAC1D036DD}" type="datetimeFigureOut">
              <a:rPr lang="en-IN" smtClean="0"/>
              <a:t>15-01-2026</a:t>
            </a:fld>
            <a:endParaRPr lang="en-IN"/>
          </a:p>
        </p:txBody>
      </p:sp>
      <p:sp>
        <p:nvSpPr>
          <p:cNvPr id="4" name="Footer Placeholder 3">
            <a:extLst>
              <a:ext uri="{FF2B5EF4-FFF2-40B4-BE49-F238E27FC236}">
                <a16:creationId xmlns:a16="http://schemas.microsoft.com/office/drawing/2014/main" id="{448E3350-A940-0571-CD33-71E532BC02F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88A2123-C3BF-FD5D-1F60-420CA9694522}"/>
              </a:ext>
            </a:extLst>
          </p:cNvPr>
          <p:cNvSpPr>
            <a:spLocks noGrp="1"/>
          </p:cNvSpPr>
          <p:nvPr>
            <p:ph type="sldNum" sz="quarter" idx="12"/>
          </p:nvPr>
        </p:nvSpPr>
        <p:spPr/>
        <p:txBody>
          <a:bodyPr/>
          <a:lstStyle/>
          <a:p>
            <a:fld id="{7BBE3C34-5782-43D9-AA18-7BBF17B68A5E}" type="slidenum">
              <a:rPr lang="en-IN" smtClean="0"/>
              <a:t>‹#›</a:t>
            </a:fld>
            <a:endParaRPr lang="en-IN"/>
          </a:p>
        </p:txBody>
      </p:sp>
    </p:spTree>
    <p:extLst>
      <p:ext uri="{BB962C8B-B14F-4D97-AF65-F5344CB8AC3E}">
        <p14:creationId xmlns:p14="http://schemas.microsoft.com/office/powerpoint/2010/main" val="27194905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96C1280-1C51-CCB6-D277-18B3DE884AA1}"/>
              </a:ext>
            </a:extLst>
          </p:cNvPr>
          <p:cNvSpPr>
            <a:spLocks noGrp="1"/>
          </p:cNvSpPr>
          <p:nvPr>
            <p:ph type="dt" sz="half" idx="10"/>
          </p:nvPr>
        </p:nvSpPr>
        <p:spPr/>
        <p:txBody>
          <a:bodyPr/>
          <a:lstStyle/>
          <a:p>
            <a:fld id="{8BD5AFDD-02A5-4CE2-AC38-36CAC1D036DD}" type="datetimeFigureOut">
              <a:rPr lang="en-IN" smtClean="0"/>
              <a:t>15-01-2026</a:t>
            </a:fld>
            <a:endParaRPr lang="en-IN"/>
          </a:p>
        </p:txBody>
      </p:sp>
      <p:sp>
        <p:nvSpPr>
          <p:cNvPr id="3" name="Footer Placeholder 2">
            <a:extLst>
              <a:ext uri="{FF2B5EF4-FFF2-40B4-BE49-F238E27FC236}">
                <a16:creationId xmlns:a16="http://schemas.microsoft.com/office/drawing/2014/main" id="{38DEBD57-C6D5-FBB5-4708-6D0149A49FA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8AEFB5B-08C2-B1DA-7186-CA84C337254F}"/>
              </a:ext>
            </a:extLst>
          </p:cNvPr>
          <p:cNvSpPr>
            <a:spLocks noGrp="1"/>
          </p:cNvSpPr>
          <p:nvPr>
            <p:ph type="sldNum" sz="quarter" idx="12"/>
          </p:nvPr>
        </p:nvSpPr>
        <p:spPr/>
        <p:txBody>
          <a:bodyPr/>
          <a:lstStyle/>
          <a:p>
            <a:fld id="{7BBE3C34-5782-43D9-AA18-7BBF17B68A5E}" type="slidenum">
              <a:rPr lang="en-IN" smtClean="0"/>
              <a:t>‹#›</a:t>
            </a:fld>
            <a:endParaRPr lang="en-IN"/>
          </a:p>
        </p:txBody>
      </p:sp>
    </p:spTree>
    <p:extLst>
      <p:ext uri="{BB962C8B-B14F-4D97-AF65-F5344CB8AC3E}">
        <p14:creationId xmlns:p14="http://schemas.microsoft.com/office/powerpoint/2010/main" val="20811355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F809FE-B16B-6F85-7125-0B1DB476D4C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66AADBF-F7C3-F413-FAB7-CB3BDDCBF9B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DFBDD32-063A-24FE-132C-6E195C97A56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1241CB0-66B7-5AC6-52C6-6609232C1233}"/>
              </a:ext>
            </a:extLst>
          </p:cNvPr>
          <p:cNvSpPr>
            <a:spLocks noGrp="1"/>
          </p:cNvSpPr>
          <p:nvPr>
            <p:ph type="dt" sz="half" idx="10"/>
          </p:nvPr>
        </p:nvSpPr>
        <p:spPr/>
        <p:txBody>
          <a:bodyPr/>
          <a:lstStyle/>
          <a:p>
            <a:fld id="{8BD5AFDD-02A5-4CE2-AC38-36CAC1D036DD}" type="datetimeFigureOut">
              <a:rPr lang="en-IN" smtClean="0"/>
              <a:t>15-01-2026</a:t>
            </a:fld>
            <a:endParaRPr lang="en-IN"/>
          </a:p>
        </p:txBody>
      </p:sp>
      <p:sp>
        <p:nvSpPr>
          <p:cNvPr id="6" name="Footer Placeholder 5">
            <a:extLst>
              <a:ext uri="{FF2B5EF4-FFF2-40B4-BE49-F238E27FC236}">
                <a16:creationId xmlns:a16="http://schemas.microsoft.com/office/drawing/2014/main" id="{E908B1DE-5735-75EC-028C-CBFD0A7185D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1E47011-0212-329E-FBA9-1BF705F90184}"/>
              </a:ext>
            </a:extLst>
          </p:cNvPr>
          <p:cNvSpPr>
            <a:spLocks noGrp="1"/>
          </p:cNvSpPr>
          <p:nvPr>
            <p:ph type="sldNum" sz="quarter" idx="12"/>
          </p:nvPr>
        </p:nvSpPr>
        <p:spPr/>
        <p:txBody>
          <a:bodyPr/>
          <a:lstStyle/>
          <a:p>
            <a:fld id="{7BBE3C34-5782-43D9-AA18-7BBF17B68A5E}" type="slidenum">
              <a:rPr lang="en-IN" smtClean="0"/>
              <a:t>‹#›</a:t>
            </a:fld>
            <a:endParaRPr lang="en-IN"/>
          </a:p>
        </p:txBody>
      </p:sp>
    </p:spTree>
    <p:extLst>
      <p:ext uri="{BB962C8B-B14F-4D97-AF65-F5344CB8AC3E}">
        <p14:creationId xmlns:p14="http://schemas.microsoft.com/office/powerpoint/2010/main" val="11065196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F7BB66-7818-2B7E-6CD5-2CDCC906BE3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2992348-D3CE-F148-FCD4-55A650DA352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C3EAF28-94E0-3CF5-5A7B-69F48137A8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A1E22A0-6BA1-25B3-F4D0-6A64B1A4E443}"/>
              </a:ext>
            </a:extLst>
          </p:cNvPr>
          <p:cNvSpPr>
            <a:spLocks noGrp="1"/>
          </p:cNvSpPr>
          <p:nvPr>
            <p:ph type="dt" sz="half" idx="10"/>
          </p:nvPr>
        </p:nvSpPr>
        <p:spPr/>
        <p:txBody>
          <a:bodyPr/>
          <a:lstStyle/>
          <a:p>
            <a:fld id="{8BD5AFDD-02A5-4CE2-AC38-36CAC1D036DD}" type="datetimeFigureOut">
              <a:rPr lang="en-IN" smtClean="0"/>
              <a:t>15-01-2026</a:t>
            </a:fld>
            <a:endParaRPr lang="en-IN"/>
          </a:p>
        </p:txBody>
      </p:sp>
      <p:sp>
        <p:nvSpPr>
          <p:cNvPr id="6" name="Footer Placeholder 5">
            <a:extLst>
              <a:ext uri="{FF2B5EF4-FFF2-40B4-BE49-F238E27FC236}">
                <a16:creationId xmlns:a16="http://schemas.microsoft.com/office/drawing/2014/main" id="{3F6A7079-0FFC-640F-E260-E59394C679D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24D33F0-1B65-9A98-5096-FC75511C7988}"/>
              </a:ext>
            </a:extLst>
          </p:cNvPr>
          <p:cNvSpPr>
            <a:spLocks noGrp="1"/>
          </p:cNvSpPr>
          <p:nvPr>
            <p:ph type="sldNum" sz="quarter" idx="12"/>
          </p:nvPr>
        </p:nvSpPr>
        <p:spPr/>
        <p:txBody>
          <a:bodyPr/>
          <a:lstStyle/>
          <a:p>
            <a:fld id="{7BBE3C34-5782-43D9-AA18-7BBF17B68A5E}" type="slidenum">
              <a:rPr lang="en-IN" smtClean="0"/>
              <a:t>‹#›</a:t>
            </a:fld>
            <a:endParaRPr lang="en-IN"/>
          </a:p>
        </p:txBody>
      </p:sp>
    </p:spTree>
    <p:extLst>
      <p:ext uri="{BB962C8B-B14F-4D97-AF65-F5344CB8AC3E}">
        <p14:creationId xmlns:p14="http://schemas.microsoft.com/office/powerpoint/2010/main" val="42496684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85937-3F46-D0CF-F7AC-EC80D1FAE3C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BE118A7-22B5-D5F0-F547-D05DF759BFA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B7FD599-98CC-5FEA-37F7-8E57B707E9FF}"/>
              </a:ext>
            </a:extLst>
          </p:cNvPr>
          <p:cNvSpPr>
            <a:spLocks noGrp="1"/>
          </p:cNvSpPr>
          <p:nvPr>
            <p:ph type="dt" sz="half" idx="10"/>
          </p:nvPr>
        </p:nvSpPr>
        <p:spPr/>
        <p:txBody>
          <a:bodyPr/>
          <a:lstStyle/>
          <a:p>
            <a:fld id="{8BD5AFDD-02A5-4CE2-AC38-36CAC1D036DD}" type="datetimeFigureOut">
              <a:rPr lang="en-IN" smtClean="0"/>
              <a:t>15-01-2026</a:t>
            </a:fld>
            <a:endParaRPr lang="en-IN"/>
          </a:p>
        </p:txBody>
      </p:sp>
      <p:sp>
        <p:nvSpPr>
          <p:cNvPr id="5" name="Footer Placeholder 4">
            <a:extLst>
              <a:ext uri="{FF2B5EF4-FFF2-40B4-BE49-F238E27FC236}">
                <a16:creationId xmlns:a16="http://schemas.microsoft.com/office/drawing/2014/main" id="{155109DF-AC74-29C4-1F0F-5C219A27E80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3247D68-AAF7-AF88-314B-9C1FA90E6A74}"/>
              </a:ext>
            </a:extLst>
          </p:cNvPr>
          <p:cNvSpPr>
            <a:spLocks noGrp="1"/>
          </p:cNvSpPr>
          <p:nvPr>
            <p:ph type="sldNum" sz="quarter" idx="12"/>
          </p:nvPr>
        </p:nvSpPr>
        <p:spPr/>
        <p:txBody>
          <a:bodyPr/>
          <a:lstStyle/>
          <a:p>
            <a:fld id="{7BBE3C34-5782-43D9-AA18-7BBF17B68A5E}" type="slidenum">
              <a:rPr lang="en-IN" smtClean="0"/>
              <a:t>‹#›</a:t>
            </a:fld>
            <a:endParaRPr lang="en-IN"/>
          </a:p>
        </p:txBody>
      </p:sp>
    </p:spTree>
    <p:extLst>
      <p:ext uri="{BB962C8B-B14F-4D97-AF65-F5344CB8AC3E}">
        <p14:creationId xmlns:p14="http://schemas.microsoft.com/office/powerpoint/2010/main" val="22493574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D700443-489B-327D-1134-99B9665C2B9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22591AE-CD83-D243-27DC-86071E29C62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91CF6BF-5D3D-9401-86B4-C3679CAA926C}"/>
              </a:ext>
            </a:extLst>
          </p:cNvPr>
          <p:cNvSpPr>
            <a:spLocks noGrp="1"/>
          </p:cNvSpPr>
          <p:nvPr>
            <p:ph type="dt" sz="half" idx="10"/>
          </p:nvPr>
        </p:nvSpPr>
        <p:spPr/>
        <p:txBody>
          <a:bodyPr/>
          <a:lstStyle/>
          <a:p>
            <a:fld id="{8BD5AFDD-02A5-4CE2-AC38-36CAC1D036DD}" type="datetimeFigureOut">
              <a:rPr lang="en-IN" smtClean="0"/>
              <a:t>15-01-2026</a:t>
            </a:fld>
            <a:endParaRPr lang="en-IN"/>
          </a:p>
        </p:txBody>
      </p:sp>
      <p:sp>
        <p:nvSpPr>
          <p:cNvPr id="5" name="Footer Placeholder 4">
            <a:extLst>
              <a:ext uri="{FF2B5EF4-FFF2-40B4-BE49-F238E27FC236}">
                <a16:creationId xmlns:a16="http://schemas.microsoft.com/office/drawing/2014/main" id="{7E061D2E-AE70-D9D7-1BC6-79A67C40DA1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BC4A44D-0E9D-986D-744F-56C1B8BB746F}"/>
              </a:ext>
            </a:extLst>
          </p:cNvPr>
          <p:cNvSpPr>
            <a:spLocks noGrp="1"/>
          </p:cNvSpPr>
          <p:nvPr>
            <p:ph type="sldNum" sz="quarter" idx="12"/>
          </p:nvPr>
        </p:nvSpPr>
        <p:spPr/>
        <p:txBody>
          <a:bodyPr/>
          <a:lstStyle/>
          <a:p>
            <a:fld id="{7BBE3C34-5782-43D9-AA18-7BBF17B68A5E}" type="slidenum">
              <a:rPr lang="en-IN" smtClean="0"/>
              <a:t>‹#›</a:t>
            </a:fld>
            <a:endParaRPr lang="en-IN"/>
          </a:p>
        </p:txBody>
      </p:sp>
    </p:spTree>
    <p:extLst>
      <p:ext uri="{BB962C8B-B14F-4D97-AF65-F5344CB8AC3E}">
        <p14:creationId xmlns:p14="http://schemas.microsoft.com/office/powerpoint/2010/main" val="20521987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E46FF5C-EB0C-BC23-3FFC-4846CADA78C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6CE897A-FA30-1C95-BC64-23E2F8AD90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08BFECC-E715-7BF8-597F-72C03EAF6C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BD5AFDD-02A5-4CE2-AC38-36CAC1D036DD}" type="datetimeFigureOut">
              <a:rPr lang="en-IN" smtClean="0"/>
              <a:t>15-01-2026</a:t>
            </a:fld>
            <a:endParaRPr lang="en-IN"/>
          </a:p>
        </p:txBody>
      </p:sp>
      <p:sp>
        <p:nvSpPr>
          <p:cNvPr id="5" name="Footer Placeholder 4">
            <a:extLst>
              <a:ext uri="{FF2B5EF4-FFF2-40B4-BE49-F238E27FC236}">
                <a16:creationId xmlns:a16="http://schemas.microsoft.com/office/drawing/2014/main" id="{551B3170-4514-F6D3-2D89-935CE633471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EE0B991-0B76-F390-97E4-67239CC0518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BBE3C34-5782-43D9-AA18-7BBF17B68A5E}" type="slidenum">
              <a:rPr lang="en-IN" smtClean="0"/>
              <a:t>‹#›</a:t>
            </a:fld>
            <a:endParaRPr lang="en-IN"/>
          </a:p>
        </p:txBody>
      </p:sp>
    </p:spTree>
    <p:extLst>
      <p:ext uri="{BB962C8B-B14F-4D97-AF65-F5344CB8AC3E}">
        <p14:creationId xmlns:p14="http://schemas.microsoft.com/office/powerpoint/2010/main" val="39968011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0EE459-A6D5-90C1-3099-FD09274B0022}"/>
              </a:ext>
            </a:extLst>
          </p:cNvPr>
          <p:cNvSpPr>
            <a:spLocks noGrp="1"/>
          </p:cNvSpPr>
          <p:nvPr>
            <p:ph type="ctrTitle"/>
          </p:nvPr>
        </p:nvSpPr>
        <p:spPr>
          <a:xfrm>
            <a:off x="1524000" y="585217"/>
            <a:ext cx="9144000" cy="2167128"/>
          </a:xfrm>
        </p:spPr>
        <p:txBody>
          <a:bodyPr>
            <a:normAutofit/>
          </a:bodyPr>
          <a:lstStyle/>
          <a:p>
            <a:r>
              <a:rPr lang="en-US" sz="8800" b="1" dirty="0"/>
              <a:t>Marketing Analytics </a:t>
            </a:r>
            <a:endParaRPr lang="en-IN" sz="8800" dirty="0"/>
          </a:p>
        </p:txBody>
      </p:sp>
      <p:sp>
        <p:nvSpPr>
          <p:cNvPr id="3" name="Subtitle 2">
            <a:extLst>
              <a:ext uri="{FF2B5EF4-FFF2-40B4-BE49-F238E27FC236}">
                <a16:creationId xmlns:a16="http://schemas.microsoft.com/office/drawing/2014/main" id="{CC3FC3E4-4E2C-76AD-BFF0-CA175470CD56}"/>
              </a:ext>
            </a:extLst>
          </p:cNvPr>
          <p:cNvSpPr>
            <a:spLocks noGrp="1"/>
          </p:cNvSpPr>
          <p:nvPr>
            <p:ph type="subTitle" idx="1"/>
          </p:nvPr>
        </p:nvSpPr>
        <p:spPr>
          <a:xfrm>
            <a:off x="1524000" y="2752345"/>
            <a:ext cx="9144000" cy="1883663"/>
          </a:xfrm>
        </p:spPr>
        <p:txBody>
          <a:bodyPr/>
          <a:lstStyle/>
          <a:p>
            <a:r>
              <a:rPr lang="en-IN" dirty="0"/>
              <a:t>Saloman Londhe</a:t>
            </a:r>
          </a:p>
        </p:txBody>
      </p:sp>
    </p:spTree>
    <p:extLst>
      <p:ext uri="{BB962C8B-B14F-4D97-AF65-F5344CB8AC3E}">
        <p14:creationId xmlns:p14="http://schemas.microsoft.com/office/powerpoint/2010/main" val="9823587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1FA23D-0CAC-15F3-4753-D93E8F7FEA65}"/>
              </a:ext>
            </a:extLst>
          </p:cNvPr>
          <p:cNvSpPr>
            <a:spLocks noGrp="1"/>
          </p:cNvSpPr>
          <p:nvPr>
            <p:ph type="title"/>
          </p:nvPr>
        </p:nvSpPr>
        <p:spPr/>
        <p:txBody>
          <a:bodyPr/>
          <a:lstStyle/>
          <a:p>
            <a:r>
              <a:rPr lang="en-US" b="1" dirty="0"/>
              <a:t>Introduction to Business Problem</a:t>
            </a:r>
            <a:endParaRPr lang="en-IN" dirty="0"/>
          </a:p>
        </p:txBody>
      </p:sp>
      <p:sp>
        <p:nvSpPr>
          <p:cNvPr id="3" name="Content Placeholder 2">
            <a:extLst>
              <a:ext uri="{FF2B5EF4-FFF2-40B4-BE49-F238E27FC236}">
                <a16:creationId xmlns:a16="http://schemas.microsoft.com/office/drawing/2014/main" id="{BDE9AC9D-DD59-76F4-6F1B-67F7A179E71D}"/>
              </a:ext>
            </a:extLst>
          </p:cNvPr>
          <p:cNvSpPr>
            <a:spLocks noGrp="1"/>
          </p:cNvSpPr>
          <p:nvPr>
            <p:ph idx="1"/>
          </p:nvPr>
        </p:nvSpPr>
        <p:spPr/>
        <p:txBody>
          <a:bodyPr>
            <a:noAutofit/>
          </a:bodyPr>
          <a:lstStyle/>
          <a:p>
            <a:pPr>
              <a:lnSpc>
                <a:spcPct val="170000"/>
              </a:lnSpc>
            </a:pPr>
            <a:r>
              <a:rPr lang="en-US" sz="1400" dirty="0"/>
              <a:t>Decathlon, an online retail business, is facing reduced customer engagement and conversion rates despite launching several new online marketing campaigns. They are reaching out to you to help conduct a detailed analysis and identify areas for improvement in their marketing strategies.</a:t>
            </a:r>
          </a:p>
          <a:p>
            <a:pPr>
              <a:lnSpc>
                <a:spcPct val="170000"/>
              </a:lnSpc>
            </a:pPr>
            <a:r>
              <a:rPr lang="en-US" sz="1400" b="1" dirty="0"/>
              <a:t>Key Points:</a:t>
            </a:r>
            <a:endParaRPr lang="en-US" sz="1400" dirty="0"/>
          </a:p>
          <a:p>
            <a:pPr lvl="1">
              <a:lnSpc>
                <a:spcPct val="170000"/>
              </a:lnSpc>
            </a:pPr>
            <a:r>
              <a:rPr lang="en-US" sz="1400" b="1" dirty="0"/>
              <a:t>Reduced Customer Engagement:</a:t>
            </a:r>
            <a:r>
              <a:rPr lang="en-US" sz="1400" dirty="0"/>
              <a:t> The number of customer interactions and engagement with the site and marketing content has declined.</a:t>
            </a:r>
          </a:p>
          <a:p>
            <a:pPr lvl="1">
              <a:lnSpc>
                <a:spcPct val="170000"/>
              </a:lnSpc>
            </a:pPr>
            <a:r>
              <a:rPr lang="en-US" sz="1400" b="1" dirty="0"/>
              <a:t>Decreased Conversion Rates:</a:t>
            </a:r>
            <a:r>
              <a:rPr lang="en-US" sz="1400" dirty="0"/>
              <a:t> Fewer site visitors are converting into paying customers.</a:t>
            </a:r>
          </a:p>
          <a:p>
            <a:pPr lvl="1">
              <a:lnSpc>
                <a:spcPct val="170000"/>
              </a:lnSpc>
            </a:pPr>
            <a:r>
              <a:rPr lang="en-US" sz="1400" b="1" dirty="0"/>
              <a:t>High Marketing Expenses:</a:t>
            </a:r>
            <a:r>
              <a:rPr lang="en-US" sz="1400" dirty="0"/>
              <a:t> Significant investments in marketing campaigns are not yielding expected returns.</a:t>
            </a:r>
          </a:p>
          <a:p>
            <a:pPr lvl="1">
              <a:lnSpc>
                <a:spcPct val="170000"/>
              </a:lnSpc>
            </a:pPr>
            <a:r>
              <a:rPr lang="en-US" sz="1400" b="1" dirty="0"/>
              <a:t>Need for Customer Feedback Analysis:</a:t>
            </a:r>
            <a:r>
              <a:rPr lang="en-US" sz="1400" dirty="0"/>
              <a:t> Understanding customer opinions about products and services is crucial for improving engagement and conversions</a:t>
            </a:r>
            <a:endParaRPr lang="en-IN" sz="1400" dirty="0"/>
          </a:p>
        </p:txBody>
      </p:sp>
    </p:spTree>
    <p:extLst>
      <p:ext uri="{BB962C8B-B14F-4D97-AF65-F5344CB8AC3E}">
        <p14:creationId xmlns:p14="http://schemas.microsoft.com/office/powerpoint/2010/main" val="805479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D7E7E2-15C2-6052-F269-E2290E43E303}"/>
              </a:ext>
            </a:extLst>
          </p:cNvPr>
          <p:cNvSpPr>
            <a:spLocks noGrp="1"/>
          </p:cNvSpPr>
          <p:nvPr>
            <p:ph type="title"/>
          </p:nvPr>
        </p:nvSpPr>
        <p:spPr/>
        <p:txBody>
          <a:bodyPr/>
          <a:lstStyle/>
          <a:p>
            <a:r>
              <a:rPr lang="en-US" b="1" dirty="0"/>
              <a:t>Subject: Request for Data Analysis to Improve Marketing Strategy</a:t>
            </a:r>
            <a:endParaRPr lang="en-IN" dirty="0"/>
          </a:p>
        </p:txBody>
      </p:sp>
      <p:sp>
        <p:nvSpPr>
          <p:cNvPr id="3" name="Content Placeholder 2">
            <a:extLst>
              <a:ext uri="{FF2B5EF4-FFF2-40B4-BE49-F238E27FC236}">
                <a16:creationId xmlns:a16="http://schemas.microsoft.com/office/drawing/2014/main" id="{A5624B58-8BE4-EB5E-F3A4-AEA16F6FCAED}"/>
              </a:ext>
            </a:extLst>
          </p:cNvPr>
          <p:cNvSpPr>
            <a:spLocks noGrp="1"/>
          </p:cNvSpPr>
          <p:nvPr>
            <p:ph idx="1"/>
          </p:nvPr>
        </p:nvSpPr>
        <p:spPr/>
        <p:txBody>
          <a:bodyPr>
            <a:normAutofit fontScale="47500" lnSpcReduction="20000"/>
          </a:bodyPr>
          <a:lstStyle/>
          <a:p>
            <a:pPr marL="0" indent="0">
              <a:lnSpc>
                <a:spcPct val="170000"/>
              </a:lnSpc>
              <a:buNone/>
            </a:pPr>
            <a:r>
              <a:rPr lang="en-US" dirty="0"/>
              <a:t>Hi Data Analyst,</a:t>
            </a:r>
          </a:p>
          <a:p>
            <a:pPr marL="0" indent="0">
              <a:lnSpc>
                <a:spcPct val="170000"/>
              </a:lnSpc>
              <a:buNone/>
            </a:pPr>
            <a:r>
              <a:rPr lang="en-US" dirty="0"/>
              <a:t>I hope this email finds you well. I’m the Marketing Manager at Decathlon. We’ve been facing some challenges with our marketing campaigns lately, and I’m reaching out to request your expertise in data analysis to help us identify areas for improvement.</a:t>
            </a:r>
          </a:p>
          <a:p>
            <a:pPr marL="0" indent="0">
              <a:lnSpc>
                <a:spcPct val="170000"/>
              </a:lnSpc>
              <a:buNone/>
            </a:pPr>
            <a:r>
              <a:rPr lang="en-US" dirty="0"/>
              <a:t>Despite our increased investment in marketing, we’ve observed a decline in customer engagement and conversion rates. Our marketing expenses have gone up, but the return on investment isn’t meeting our expectations. We need a comprehensive analysis to understand the effectiveness of our current strategies and to find opportunities to optimize our efforts.</a:t>
            </a:r>
          </a:p>
          <a:p>
            <a:pPr marL="0" indent="0">
              <a:lnSpc>
                <a:spcPct val="170000"/>
              </a:lnSpc>
              <a:buNone/>
            </a:pPr>
            <a:r>
              <a:rPr lang="en-US" dirty="0"/>
              <a:t>We have data from various sources, including customer reviews, social media comments, and campaign performance metrics. Your insights will be invaluable in helping us turn this situation around.</a:t>
            </a:r>
          </a:p>
          <a:p>
            <a:pPr marL="0" indent="0">
              <a:lnSpc>
                <a:spcPct val="170000"/>
              </a:lnSpc>
              <a:buNone/>
            </a:pPr>
            <a:r>
              <a:rPr lang="en-US" dirty="0"/>
              <a:t>Looking forward to your response.</a:t>
            </a:r>
          </a:p>
          <a:p>
            <a:pPr marL="0" indent="0">
              <a:lnSpc>
                <a:spcPct val="170000"/>
              </a:lnSpc>
              <a:buNone/>
            </a:pPr>
            <a:r>
              <a:rPr lang="en-US" dirty="0"/>
              <a:t>Best regards,</a:t>
            </a:r>
            <a:br>
              <a:rPr lang="en-US" dirty="0"/>
            </a:br>
            <a:r>
              <a:rPr lang="en-US" dirty="0"/>
              <a:t>Marketing Manager</a:t>
            </a:r>
          </a:p>
          <a:p>
            <a:endParaRPr lang="en-IN" dirty="0"/>
          </a:p>
        </p:txBody>
      </p:sp>
    </p:spTree>
    <p:extLst>
      <p:ext uri="{BB962C8B-B14F-4D97-AF65-F5344CB8AC3E}">
        <p14:creationId xmlns:p14="http://schemas.microsoft.com/office/powerpoint/2010/main" val="40807835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1CEB94-9E91-33C3-13A1-DADE18942467}"/>
              </a:ext>
            </a:extLst>
          </p:cNvPr>
          <p:cNvSpPr>
            <a:spLocks noGrp="1"/>
          </p:cNvSpPr>
          <p:nvPr>
            <p:ph type="title"/>
          </p:nvPr>
        </p:nvSpPr>
        <p:spPr/>
        <p:txBody>
          <a:bodyPr/>
          <a:lstStyle/>
          <a:p>
            <a:r>
              <a:rPr lang="en-US" b="1" dirty="0"/>
              <a:t>Subject: Request for Data Analysis to Improve Marketing Strategy</a:t>
            </a:r>
            <a:endParaRPr lang="en-IN" dirty="0"/>
          </a:p>
        </p:txBody>
      </p:sp>
      <p:sp>
        <p:nvSpPr>
          <p:cNvPr id="3" name="Content Placeholder 2">
            <a:extLst>
              <a:ext uri="{FF2B5EF4-FFF2-40B4-BE49-F238E27FC236}">
                <a16:creationId xmlns:a16="http://schemas.microsoft.com/office/drawing/2014/main" id="{0C1CC8D0-83FB-A348-C6AE-9BD7559444F7}"/>
              </a:ext>
            </a:extLst>
          </p:cNvPr>
          <p:cNvSpPr>
            <a:spLocks noGrp="1"/>
          </p:cNvSpPr>
          <p:nvPr>
            <p:ph idx="1"/>
          </p:nvPr>
        </p:nvSpPr>
        <p:spPr/>
        <p:txBody>
          <a:bodyPr>
            <a:normAutofit fontScale="55000" lnSpcReduction="20000"/>
          </a:bodyPr>
          <a:lstStyle/>
          <a:p>
            <a:pPr marL="0" indent="0">
              <a:lnSpc>
                <a:spcPct val="170000"/>
              </a:lnSpc>
              <a:buNone/>
            </a:pPr>
            <a:r>
              <a:rPr lang="en-US" dirty="0"/>
              <a:t>Hi Data Analyst,</a:t>
            </a:r>
          </a:p>
          <a:p>
            <a:pPr marL="0" indent="0">
              <a:lnSpc>
                <a:spcPct val="170000"/>
              </a:lnSpc>
              <a:buNone/>
            </a:pPr>
            <a:r>
              <a:rPr lang="en-US" dirty="0"/>
              <a:t>I’m the Customer Experience Manager at Decathlon, and I’m writing to seek your help with analyzing our customer feedback. Over the past few months, we’ve noticed a drop in customer engagement and satisfaction, which is impacting our overall conversion rates.</a:t>
            </a:r>
          </a:p>
          <a:p>
            <a:pPr marL="0" indent="0">
              <a:lnSpc>
                <a:spcPct val="170000"/>
              </a:lnSpc>
              <a:buNone/>
            </a:pPr>
            <a:r>
              <a:rPr lang="en-US" dirty="0"/>
              <a:t>We’ve gathered a significant amount of customer reviews and social media comments that highlight various issues and sentiments. We believe that by thoroughly analyzing this feedback, we can gain a better understanding of our customers' needs and pain points.</a:t>
            </a:r>
          </a:p>
          <a:p>
            <a:pPr marL="0" indent="0">
              <a:lnSpc>
                <a:spcPct val="170000"/>
              </a:lnSpc>
              <a:buNone/>
            </a:pPr>
            <a:r>
              <a:rPr lang="en-US" dirty="0"/>
              <a:t>Your expertise in data analysis will be crucial in helping us decode this feedback and provide actionable insights. We hope this will guide us in improving our customer experience and ultimately boost our engagement and conversion rates.</a:t>
            </a:r>
          </a:p>
          <a:p>
            <a:pPr marL="0" indent="0">
              <a:lnSpc>
                <a:spcPct val="170000"/>
              </a:lnSpc>
              <a:buNone/>
            </a:pPr>
            <a:r>
              <a:rPr lang="en-US" dirty="0"/>
              <a:t>Thank you for your assistance.</a:t>
            </a:r>
          </a:p>
          <a:p>
            <a:pPr marL="0" indent="0">
              <a:lnSpc>
                <a:spcPct val="170000"/>
              </a:lnSpc>
              <a:buNone/>
            </a:pPr>
            <a:r>
              <a:rPr lang="en-US" dirty="0"/>
              <a:t>Best regards,</a:t>
            </a:r>
            <a:br>
              <a:rPr lang="en-US" dirty="0"/>
            </a:br>
            <a:r>
              <a:rPr lang="en-US" dirty="0"/>
              <a:t>Customer Experience Manager</a:t>
            </a:r>
            <a:endParaRPr lang="en-IN" dirty="0"/>
          </a:p>
        </p:txBody>
      </p:sp>
    </p:spTree>
    <p:extLst>
      <p:ext uri="{BB962C8B-B14F-4D97-AF65-F5344CB8AC3E}">
        <p14:creationId xmlns:p14="http://schemas.microsoft.com/office/powerpoint/2010/main" val="35218340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B78C6D-6DE1-5B8B-8CF6-B8B03CAE3FC7}"/>
              </a:ext>
            </a:extLst>
          </p:cNvPr>
          <p:cNvSpPr>
            <a:spLocks noGrp="1"/>
          </p:cNvSpPr>
          <p:nvPr>
            <p:ph type="title"/>
          </p:nvPr>
        </p:nvSpPr>
        <p:spPr/>
        <p:txBody>
          <a:bodyPr/>
          <a:lstStyle/>
          <a:p>
            <a:r>
              <a:rPr lang="en-US" b="1" dirty="0"/>
              <a:t>Key Performance Indicators (KPIs)</a:t>
            </a:r>
            <a:endParaRPr lang="en-IN" dirty="0"/>
          </a:p>
        </p:txBody>
      </p:sp>
      <p:sp>
        <p:nvSpPr>
          <p:cNvPr id="3" name="Content Placeholder 2">
            <a:extLst>
              <a:ext uri="{FF2B5EF4-FFF2-40B4-BE49-F238E27FC236}">
                <a16:creationId xmlns:a16="http://schemas.microsoft.com/office/drawing/2014/main" id="{0AA92809-8DA8-8EFF-DDC2-8B613D6AC262}"/>
              </a:ext>
            </a:extLst>
          </p:cNvPr>
          <p:cNvSpPr>
            <a:spLocks noGrp="1"/>
          </p:cNvSpPr>
          <p:nvPr>
            <p:ph idx="1"/>
          </p:nvPr>
        </p:nvSpPr>
        <p:spPr/>
        <p:txBody>
          <a:bodyPr>
            <a:normAutofit/>
          </a:bodyPr>
          <a:lstStyle/>
          <a:p>
            <a:pPr>
              <a:lnSpc>
                <a:spcPct val="150000"/>
              </a:lnSpc>
            </a:pPr>
            <a:r>
              <a:rPr lang="en-US" b="1" dirty="0"/>
              <a:t>Conversion Rate: </a:t>
            </a:r>
            <a:r>
              <a:rPr lang="en-US" dirty="0"/>
              <a:t>Percentage of website visitors who make a purchase.</a:t>
            </a:r>
          </a:p>
          <a:p>
            <a:pPr>
              <a:lnSpc>
                <a:spcPct val="150000"/>
              </a:lnSpc>
            </a:pPr>
            <a:r>
              <a:rPr lang="en-US" b="1" dirty="0"/>
              <a:t>Customer Engagement Rate: </a:t>
            </a:r>
            <a:r>
              <a:rPr lang="en-US" dirty="0"/>
              <a:t>Level of interaction with marketing content (clicks, likes, comments).</a:t>
            </a:r>
          </a:p>
          <a:p>
            <a:pPr>
              <a:lnSpc>
                <a:spcPct val="150000"/>
              </a:lnSpc>
            </a:pPr>
            <a:r>
              <a:rPr lang="en-US" b="1" dirty="0"/>
              <a:t>Customer Feedback Score: </a:t>
            </a:r>
            <a:r>
              <a:rPr lang="en-US" dirty="0"/>
              <a:t>Average rating from</a:t>
            </a:r>
            <a:endParaRPr lang="en-IN" dirty="0"/>
          </a:p>
        </p:txBody>
      </p:sp>
    </p:spTree>
    <p:extLst>
      <p:ext uri="{BB962C8B-B14F-4D97-AF65-F5344CB8AC3E}">
        <p14:creationId xmlns:p14="http://schemas.microsoft.com/office/powerpoint/2010/main" val="16200332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B0B7A-7C90-3693-93F7-5E51538E782D}"/>
              </a:ext>
            </a:extLst>
          </p:cNvPr>
          <p:cNvSpPr>
            <a:spLocks noGrp="1"/>
          </p:cNvSpPr>
          <p:nvPr>
            <p:ph type="title"/>
          </p:nvPr>
        </p:nvSpPr>
        <p:spPr/>
        <p:txBody>
          <a:bodyPr/>
          <a:lstStyle/>
          <a:p>
            <a:r>
              <a:rPr lang="en-US" b="1" dirty="0"/>
              <a:t>Goals</a:t>
            </a:r>
            <a:endParaRPr lang="en-IN" dirty="0"/>
          </a:p>
        </p:txBody>
      </p:sp>
      <p:sp>
        <p:nvSpPr>
          <p:cNvPr id="3" name="Content Placeholder 2">
            <a:extLst>
              <a:ext uri="{FF2B5EF4-FFF2-40B4-BE49-F238E27FC236}">
                <a16:creationId xmlns:a16="http://schemas.microsoft.com/office/drawing/2014/main" id="{07A5E833-E622-3494-847E-B9B86096CFD5}"/>
              </a:ext>
            </a:extLst>
          </p:cNvPr>
          <p:cNvSpPr>
            <a:spLocks noGrp="1"/>
          </p:cNvSpPr>
          <p:nvPr>
            <p:ph idx="1"/>
          </p:nvPr>
        </p:nvSpPr>
        <p:spPr/>
        <p:txBody>
          <a:bodyPr>
            <a:normAutofit fontScale="62500" lnSpcReduction="20000"/>
          </a:bodyPr>
          <a:lstStyle/>
          <a:p>
            <a:pPr>
              <a:lnSpc>
                <a:spcPct val="170000"/>
              </a:lnSpc>
            </a:pPr>
            <a:r>
              <a:rPr lang="en-US" b="1" dirty="0"/>
              <a:t>Increase Conversion Rates:</a:t>
            </a:r>
          </a:p>
          <a:p>
            <a:pPr lvl="1">
              <a:lnSpc>
                <a:spcPct val="170000"/>
              </a:lnSpc>
            </a:pPr>
            <a:r>
              <a:rPr lang="en-US" b="1" dirty="0"/>
              <a:t>Goal: </a:t>
            </a:r>
            <a:r>
              <a:rPr lang="en-US" dirty="0"/>
              <a:t>Identify factors impacting the conversion rate and provide recommendations to improve it.</a:t>
            </a:r>
          </a:p>
          <a:p>
            <a:pPr lvl="1">
              <a:lnSpc>
                <a:spcPct val="170000"/>
              </a:lnSpc>
            </a:pPr>
            <a:r>
              <a:rPr lang="en-US" b="1" dirty="0"/>
              <a:t>Insight: </a:t>
            </a:r>
            <a:r>
              <a:rPr lang="en-US" dirty="0"/>
              <a:t>Highlight key stages where visitors drop off and suggest improvements to optimize the conversion funnel.</a:t>
            </a:r>
          </a:p>
          <a:p>
            <a:pPr>
              <a:lnSpc>
                <a:spcPct val="170000"/>
              </a:lnSpc>
            </a:pPr>
            <a:r>
              <a:rPr lang="en-US" b="1" dirty="0"/>
              <a:t>Enhance Customer Engagement:</a:t>
            </a:r>
            <a:endParaRPr lang="en-US" dirty="0"/>
          </a:p>
          <a:p>
            <a:pPr lvl="1">
              <a:lnSpc>
                <a:spcPct val="170000"/>
              </a:lnSpc>
            </a:pPr>
            <a:r>
              <a:rPr lang="en-US" b="1" dirty="0"/>
              <a:t>Goal:</a:t>
            </a:r>
            <a:r>
              <a:rPr lang="en-US" dirty="0"/>
              <a:t> Determine which types of content drive the highest engagement. </a:t>
            </a:r>
          </a:p>
          <a:p>
            <a:pPr lvl="1">
              <a:lnSpc>
                <a:spcPct val="170000"/>
              </a:lnSpc>
            </a:pPr>
            <a:r>
              <a:rPr lang="en-US" b="1" dirty="0"/>
              <a:t>Insight:</a:t>
            </a:r>
            <a:r>
              <a:rPr lang="en-US" dirty="0"/>
              <a:t> Analyze interaction levels with different types of marketing content to inform better content strategies.</a:t>
            </a:r>
          </a:p>
          <a:p>
            <a:pPr>
              <a:lnSpc>
                <a:spcPct val="170000"/>
              </a:lnSpc>
            </a:pPr>
            <a:r>
              <a:rPr lang="en-US" b="1" dirty="0"/>
              <a:t>Improve Customer Feedback Scores:</a:t>
            </a:r>
            <a:endParaRPr lang="en-US" dirty="0"/>
          </a:p>
          <a:p>
            <a:pPr lvl="1">
              <a:lnSpc>
                <a:spcPct val="170000"/>
              </a:lnSpc>
            </a:pPr>
            <a:r>
              <a:rPr lang="en-US" b="1" dirty="0"/>
              <a:t>Goal:</a:t>
            </a:r>
            <a:r>
              <a:rPr lang="en-US" dirty="0"/>
              <a:t> Understand common themes in customer reviews and provide actionable insights.</a:t>
            </a:r>
          </a:p>
          <a:p>
            <a:pPr lvl="1">
              <a:lnSpc>
                <a:spcPct val="170000"/>
              </a:lnSpc>
            </a:pPr>
            <a:r>
              <a:rPr lang="en-US" b="1" dirty="0"/>
              <a:t>Insight:</a:t>
            </a:r>
            <a:r>
              <a:rPr lang="en-US" dirty="0"/>
              <a:t> Identify recurring positive and negative feedback to guide product and service improvements.</a:t>
            </a:r>
          </a:p>
          <a:p>
            <a:endParaRPr lang="en-IN" dirty="0"/>
          </a:p>
        </p:txBody>
      </p:sp>
    </p:spTree>
    <p:extLst>
      <p:ext uri="{BB962C8B-B14F-4D97-AF65-F5344CB8AC3E}">
        <p14:creationId xmlns:p14="http://schemas.microsoft.com/office/powerpoint/2010/main" val="25153227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C04F7-F846-A90B-5D73-5DFE5235E52F}"/>
              </a:ext>
            </a:extLst>
          </p:cNvPr>
          <p:cNvSpPr>
            <a:spLocks noGrp="1"/>
          </p:cNvSpPr>
          <p:nvPr>
            <p:ph type="title"/>
          </p:nvPr>
        </p:nvSpPr>
        <p:spPr>
          <a:xfrm>
            <a:off x="839788" y="265176"/>
            <a:ext cx="3932237" cy="841248"/>
          </a:xfrm>
        </p:spPr>
        <p:txBody>
          <a:bodyPr>
            <a:normAutofit/>
          </a:bodyPr>
          <a:lstStyle/>
          <a:p>
            <a:r>
              <a:rPr lang="nb-NO" sz="4000" b="1" dirty="0"/>
              <a:t>Overview</a:t>
            </a:r>
            <a:endParaRPr lang="en-IN" sz="4000" b="1" dirty="0"/>
          </a:p>
        </p:txBody>
      </p:sp>
      <p:pic>
        <p:nvPicPr>
          <p:cNvPr id="6" name="Content Placeholder 5">
            <a:extLst>
              <a:ext uri="{FF2B5EF4-FFF2-40B4-BE49-F238E27FC236}">
                <a16:creationId xmlns:a16="http://schemas.microsoft.com/office/drawing/2014/main" id="{71AB7767-17F5-DD06-6BC9-CC809CABDCE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038344" y="1106424"/>
            <a:ext cx="6647688" cy="4762564"/>
          </a:xfrm>
        </p:spPr>
      </p:pic>
      <p:sp>
        <p:nvSpPr>
          <p:cNvPr id="4" name="Text Placeholder 3">
            <a:extLst>
              <a:ext uri="{FF2B5EF4-FFF2-40B4-BE49-F238E27FC236}">
                <a16:creationId xmlns:a16="http://schemas.microsoft.com/office/drawing/2014/main" id="{36DFB11B-5766-675C-A1AD-FAB15F260DEB}"/>
              </a:ext>
            </a:extLst>
          </p:cNvPr>
          <p:cNvSpPr>
            <a:spLocks noGrp="1"/>
          </p:cNvSpPr>
          <p:nvPr>
            <p:ph type="body" sz="half" idx="2"/>
          </p:nvPr>
        </p:nvSpPr>
        <p:spPr>
          <a:xfrm>
            <a:off x="839788" y="1106424"/>
            <a:ext cx="3932237" cy="4882896"/>
          </a:xfrm>
        </p:spPr>
        <p:txBody>
          <a:bodyPr>
            <a:noAutofit/>
          </a:bodyPr>
          <a:lstStyle/>
          <a:p>
            <a:pPr marL="171450" indent="-171450">
              <a:lnSpc>
                <a:spcPct val="160000"/>
              </a:lnSpc>
              <a:buFont typeface="Arial" panose="020B0604020202020204" pitchFamily="34" charset="0"/>
              <a:buChar char="•"/>
            </a:pPr>
            <a:r>
              <a:rPr lang="en-US" sz="1100" b="1" dirty="0"/>
              <a:t>Decreased Conversion Rates: </a:t>
            </a:r>
            <a:r>
              <a:rPr lang="en-US" sz="1100" dirty="0"/>
              <a:t>The conversion rate demonstrated a strong rebound in June, reaching 10.53% and in the month of September 12.20% due to increase in adventure activities.</a:t>
            </a:r>
          </a:p>
          <a:p>
            <a:pPr marL="171450" indent="-171450">
              <a:lnSpc>
                <a:spcPct val="160000"/>
              </a:lnSpc>
              <a:buFont typeface="Arial" panose="020B0604020202020204" pitchFamily="34" charset="0"/>
              <a:buChar char="•"/>
            </a:pPr>
            <a:r>
              <a:rPr lang="en-US" sz="1100" b="1" dirty="0"/>
              <a:t>Reduced Customer Engagement:</a:t>
            </a:r>
          </a:p>
          <a:p>
            <a:pPr marL="628650" lvl="1" indent="-171450">
              <a:lnSpc>
                <a:spcPct val="160000"/>
              </a:lnSpc>
              <a:buFont typeface="Arial" panose="020B0604020202020204" pitchFamily="34" charset="0"/>
              <a:buChar char="•"/>
            </a:pPr>
            <a:r>
              <a:rPr lang="en-US" sz="1100" dirty="0"/>
              <a:t>There is a decline in overall social media engagement, with views dropping throughout the year.</a:t>
            </a:r>
          </a:p>
          <a:p>
            <a:pPr marL="628650" lvl="1" indent="-171450">
              <a:lnSpc>
                <a:spcPct val="160000"/>
              </a:lnSpc>
              <a:buFont typeface="Arial" panose="020B0604020202020204" pitchFamily="34" charset="0"/>
              <a:buChar char="•"/>
            </a:pPr>
            <a:r>
              <a:rPr lang="en-US" sz="1100" dirty="0"/>
              <a:t>While clicks and likes are low compared to views, the click-through rate stands at 19.66%, meaning that engaged users are still interacting effectively.</a:t>
            </a:r>
          </a:p>
          <a:p>
            <a:pPr marL="171450" indent="-171450">
              <a:lnSpc>
                <a:spcPct val="160000"/>
              </a:lnSpc>
              <a:buFont typeface="Arial" panose="020B0604020202020204" pitchFamily="34" charset="0"/>
              <a:buChar char="•"/>
            </a:pPr>
            <a:r>
              <a:rPr lang="en-US" sz="1100" b="1" dirty="0"/>
              <a:t>Customer Feedback Analysis:</a:t>
            </a:r>
          </a:p>
          <a:p>
            <a:pPr marL="628650" lvl="1" indent="-171450">
              <a:lnSpc>
                <a:spcPct val="160000"/>
              </a:lnSpc>
              <a:buFont typeface="Arial" panose="020B0604020202020204" pitchFamily="34" charset="0"/>
              <a:buChar char="•"/>
            </a:pPr>
            <a:r>
              <a:rPr lang="en-US" sz="1100" dirty="0"/>
              <a:t>Customer ratings have remained consistent, averaging around 3.69 throughout the year.</a:t>
            </a:r>
          </a:p>
          <a:p>
            <a:pPr marL="628650" lvl="1" indent="-171450">
              <a:lnSpc>
                <a:spcPct val="160000"/>
              </a:lnSpc>
              <a:buFont typeface="Arial" panose="020B0604020202020204" pitchFamily="34" charset="0"/>
              <a:buChar char="•"/>
            </a:pPr>
            <a:r>
              <a:rPr lang="en-US" sz="1100" dirty="0"/>
              <a:t>Although stable, the average rating is below the target of 4.0, suggesting a need for focused improvements in customer satisfaction, for products below 3.5 rating.</a:t>
            </a:r>
            <a:endParaRPr lang="nb-NO" sz="1100" dirty="0"/>
          </a:p>
          <a:p>
            <a:endParaRPr lang="en-IN" sz="1000" dirty="0"/>
          </a:p>
        </p:txBody>
      </p:sp>
    </p:spTree>
    <p:extLst>
      <p:ext uri="{BB962C8B-B14F-4D97-AF65-F5344CB8AC3E}">
        <p14:creationId xmlns:p14="http://schemas.microsoft.com/office/powerpoint/2010/main" val="23740985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0DD82-BEC6-1E0B-540F-77FD70741B75}"/>
              </a:ext>
            </a:extLst>
          </p:cNvPr>
          <p:cNvSpPr>
            <a:spLocks noGrp="1"/>
          </p:cNvSpPr>
          <p:nvPr>
            <p:ph type="title"/>
          </p:nvPr>
        </p:nvSpPr>
        <p:spPr/>
        <p:txBody>
          <a:bodyPr/>
          <a:lstStyle/>
          <a:p>
            <a:r>
              <a:rPr lang="nb-NO" b="1" dirty="0"/>
              <a:t>Decreased Conversion Rates</a:t>
            </a:r>
            <a:endParaRPr lang="en-IN" dirty="0"/>
          </a:p>
        </p:txBody>
      </p:sp>
      <p:sp>
        <p:nvSpPr>
          <p:cNvPr id="3" name="Content Placeholder 2">
            <a:extLst>
              <a:ext uri="{FF2B5EF4-FFF2-40B4-BE49-F238E27FC236}">
                <a16:creationId xmlns:a16="http://schemas.microsoft.com/office/drawing/2014/main" id="{67CA3E22-5C09-17FE-6A6F-03FC417506C6}"/>
              </a:ext>
            </a:extLst>
          </p:cNvPr>
          <p:cNvSpPr>
            <a:spLocks noGrp="1"/>
          </p:cNvSpPr>
          <p:nvPr>
            <p:ph sz="half" idx="1"/>
          </p:nvPr>
        </p:nvSpPr>
        <p:spPr/>
        <p:txBody>
          <a:bodyPr>
            <a:normAutofit fontScale="40000" lnSpcReduction="20000"/>
          </a:bodyPr>
          <a:lstStyle/>
          <a:p>
            <a:pPr>
              <a:lnSpc>
                <a:spcPct val="170000"/>
              </a:lnSpc>
            </a:pPr>
            <a:r>
              <a:rPr lang="en-US" b="1" dirty="0"/>
              <a:t>General Conversion Trend:</a:t>
            </a:r>
          </a:p>
          <a:p>
            <a:pPr lvl="1">
              <a:lnSpc>
                <a:spcPct val="170000"/>
              </a:lnSpc>
            </a:pPr>
            <a:r>
              <a:rPr lang="en-US" dirty="0"/>
              <a:t>Throughout the year, conversion rates varied, with higher numbers of products converting successfully in months like January, February, March, June and December. This suggests that while some products had strong seasonal peaks, there is potential to improve conversions in lower-performing months through targeted interventions.</a:t>
            </a:r>
          </a:p>
          <a:p>
            <a:pPr>
              <a:lnSpc>
                <a:spcPct val="170000"/>
              </a:lnSpc>
            </a:pPr>
            <a:r>
              <a:rPr lang="en-US" b="1" dirty="0"/>
              <a:t>Lowest Conversion Month:</a:t>
            </a:r>
          </a:p>
          <a:p>
            <a:pPr lvl="1">
              <a:lnSpc>
                <a:spcPct val="170000"/>
              </a:lnSpc>
            </a:pPr>
            <a:r>
              <a:rPr lang="en-US" dirty="0"/>
              <a:t>October experienced the lowest overall conversion rate at 6.15%, with no products standing out significantly in terms of conversion. This indicates a potential need to revisit marketing strategies or promotions during this period to boost performance.</a:t>
            </a:r>
          </a:p>
          <a:p>
            <a:pPr>
              <a:lnSpc>
                <a:spcPct val="170000"/>
              </a:lnSpc>
            </a:pPr>
            <a:r>
              <a:rPr lang="en-US" b="1" dirty="0"/>
              <a:t>Highest Conversion Rates:</a:t>
            </a:r>
          </a:p>
          <a:p>
            <a:pPr lvl="1">
              <a:lnSpc>
                <a:spcPct val="170000"/>
              </a:lnSpc>
            </a:pPr>
            <a:r>
              <a:rPr lang="en-US" dirty="0"/>
              <a:t>January recorded the highest overall conversion rate at 17.31%, driven significantly by the Ski Boots with a remarkable 100% conversion. This indicates a strong start to the year, likely fueled by seasonal demand and effective marketing strategies. There is spike in surfboard sales in May indicates surfing season.</a:t>
            </a:r>
          </a:p>
          <a:p>
            <a:endParaRPr lang="en-IN" dirty="0"/>
          </a:p>
        </p:txBody>
      </p:sp>
      <p:pic>
        <p:nvPicPr>
          <p:cNvPr id="6" name="Content Placeholder 5">
            <a:extLst>
              <a:ext uri="{FF2B5EF4-FFF2-40B4-BE49-F238E27FC236}">
                <a16:creationId xmlns:a16="http://schemas.microsoft.com/office/drawing/2014/main" id="{D7637D81-92F4-E43E-9D7F-A97866A9BD2F}"/>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72200" y="1825625"/>
            <a:ext cx="5181600" cy="3679063"/>
          </a:xfrm>
        </p:spPr>
      </p:pic>
    </p:spTree>
    <p:extLst>
      <p:ext uri="{BB962C8B-B14F-4D97-AF65-F5344CB8AC3E}">
        <p14:creationId xmlns:p14="http://schemas.microsoft.com/office/powerpoint/2010/main" val="8606566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DA89DC-1C39-B9CA-F2E5-F7316AC435EA}"/>
              </a:ext>
            </a:extLst>
          </p:cNvPr>
          <p:cNvSpPr>
            <a:spLocks noGrp="1"/>
          </p:cNvSpPr>
          <p:nvPr>
            <p:ph type="title"/>
          </p:nvPr>
        </p:nvSpPr>
        <p:spPr/>
        <p:txBody>
          <a:bodyPr/>
          <a:lstStyle/>
          <a:p>
            <a:r>
              <a:rPr lang="en-US" b="1" dirty="0"/>
              <a:t>Reduced Customer Engagement</a:t>
            </a:r>
            <a:endParaRPr lang="en-IN" b="1" dirty="0"/>
          </a:p>
        </p:txBody>
      </p:sp>
      <p:sp>
        <p:nvSpPr>
          <p:cNvPr id="3" name="Content Placeholder 2">
            <a:extLst>
              <a:ext uri="{FF2B5EF4-FFF2-40B4-BE49-F238E27FC236}">
                <a16:creationId xmlns:a16="http://schemas.microsoft.com/office/drawing/2014/main" id="{C0404B77-2FAC-28FB-8BFD-EAD31564E276}"/>
              </a:ext>
            </a:extLst>
          </p:cNvPr>
          <p:cNvSpPr>
            <a:spLocks noGrp="1"/>
          </p:cNvSpPr>
          <p:nvPr>
            <p:ph sz="half" idx="1"/>
          </p:nvPr>
        </p:nvSpPr>
        <p:spPr>
          <a:xfrm>
            <a:off x="838200" y="1825625"/>
            <a:ext cx="5181600" cy="4667250"/>
          </a:xfrm>
        </p:spPr>
        <p:txBody>
          <a:bodyPr>
            <a:normAutofit fontScale="25000" lnSpcReduction="20000"/>
          </a:bodyPr>
          <a:lstStyle/>
          <a:p>
            <a:pPr>
              <a:lnSpc>
                <a:spcPct val="170000"/>
              </a:lnSpc>
            </a:pPr>
            <a:r>
              <a:rPr lang="en-US" sz="5600" b="1" dirty="0"/>
              <a:t>Declining Views:</a:t>
            </a:r>
          </a:p>
          <a:p>
            <a:pPr lvl="1">
              <a:lnSpc>
                <a:spcPct val="170000"/>
              </a:lnSpc>
            </a:pPr>
            <a:r>
              <a:rPr lang="en-US" sz="5600" dirty="0"/>
              <a:t>Views peaked in First Quarter of The year but declined from May and so on, indicating reduced audience engagement in the later half of the year.</a:t>
            </a:r>
          </a:p>
          <a:p>
            <a:pPr>
              <a:lnSpc>
                <a:spcPct val="170000"/>
              </a:lnSpc>
            </a:pPr>
            <a:r>
              <a:rPr lang="en-US" sz="5600" b="1" dirty="0"/>
              <a:t>Low Interaction Rates:</a:t>
            </a:r>
          </a:p>
          <a:p>
            <a:pPr lvl="1">
              <a:lnSpc>
                <a:spcPct val="170000"/>
              </a:lnSpc>
            </a:pPr>
            <a:r>
              <a:rPr lang="en-US" sz="5600" dirty="0"/>
              <a:t>Clicks and likes remained consistently low compared to views, suggesting the need for more engaging content or stronger calls to action.</a:t>
            </a:r>
          </a:p>
          <a:p>
            <a:pPr>
              <a:lnSpc>
                <a:spcPct val="170000"/>
              </a:lnSpc>
            </a:pPr>
            <a:r>
              <a:rPr lang="en-US" sz="5600" b="1" dirty="0"/>
              <a:t>Content Type Performance:</a:t>
            </a:r>
          </a:p>
          <a:p>
            <a:pPr lvl="1">
              <a:lnSpc>
                <a:spcPct val="170000"/>
              </a:lnSpc>
            </a:pPr>
            <a:r>
              <a:rPr lang="en-US" sz="5600" dirty="0"/>
              <a:t>Blog content drove the most views, especially in April and August, while social media(except Nov, Dec) and video(except March) content maintained steady but slightly lower engagement.</a:t>
            </a:r>
            <a:endParaRPr lang="nb-NO" sz="5600" dirty="0"/>
          </a:p>
          <a:p>
            <a:endParaRPr lang="en-IN" dirty="0"/>
          </a:p>
        </p:txBody>
      </p:sp>
      <p:pic>
        <p:nvPicPr>
          <p:cNvPr id="8" name="Content Placeholder 7">
            <a:extLst>
              <a:ext uri="{FF2B5EF4-FFF2-40B4-BE49-F238E27FC236}">
                <a16:creationId xmlns:a16="http://schemas.microsoft.com/office/drawing/2014/main" id="{212EAA51-F810-15B1-0096-8833A1708852}"/>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419088" y="1825625"/>
            <a:ext cx="4617720" cy="2097088"/>
          </a:xfrm>
        </p:spPr>
      </p:pic>
      <p:sp>
        <p:nvSpPr>
          <p:cNvPr id="5" name="Content Placeholder 3">
            <a:extLst>
              <a:ext uri="{FF2B5EF4-FFF2-40B4-BE49-F238E27FC236}">
                <a16:creationId xmlns:a16="http://schemas.microsoft.com/office/drawing/2014/main" id="{D8A98A64-5029-6FD6-70F1-A83C7C6AAD77}"/>
              </a:ext>
            </a:extLst>
          </p:cNvPr>
          <p:cNvSpPr txBox="1">
            <a:spLocks/>
          </p:cNvSpPr>
          <p:nvPr/>
        </p:nvSpPr>
        <p:spPr>
          <a:xfrm>
            <a:off x="6172200" y="4175633"/>
            <a:ext cx="5181600" cy="209715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dirty="0"/>
          </a:p>
        </p:txBody>
      </p:sp>
      <p:sp>
        <p:nvSpPr>
          <p:cNvPr id="6" name="Content Placeholder 3">
            <a:extLst>
              <a:ext uri="{FF2B5EF4-FFF2-40B4-BE49-F238E27FC236}">
                <a16:creationId xmlns:a16="http://schemas.microsoft.com/office/drawing/2014/main" id="{1627E3A1-AB2D-F63D-8246-5C05C12B3314}"/>
              </a:ext>
            </a:extLst>
          </p:cNvPr>
          <p:cNvSpPr txBox="1">
            <a:spLocks/>
          </p:cNvSpPr>
          <p:nvPr/>
        </p:nvSpPr>
        <p:spPr>
          <a:xfrm>
            <a:off x="6172200" y="4175632"/>
            <a:ext cx="5181600" cy="209715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dirty="0"/>
          </a:p>
        </p:txBody>
      </p:sp>
      <p:pic>
        <p:nvPicPr>
          <p:cNvPr id="10" name="Picture 9">
            <a:extLst>
              <a:ext uri="{FF2B5EF4-FFF2-40B4-BE49-F238E27FC236}">
                <a16:creationId xmlns:a16="http://schemas.microsoft.com/office/drawing/2014/main" id="{D4CD08BF-719D-13B7-5F7A-B79D419F88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19089" y="3922713"/>
            <a:ext cx="4617720" cy="2350070"/>
          </a:xfrm>
          <a:prstGeom prst="rect">
            <a:avLst/>
          </a:prstGeom>
        </p:spPr>
      </p:pic>
    </p:spTree>
    <p:extLst>
      <p:ext uri="{BB962C8B-B14F-4D97-AF65-F5344CB8AC3E}">
        <p14:creationId xmlns:p14="http://schemas.microsoft.com/office/powerpoint/2010/main" val="7266263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677EE6-B4A6-7A7C-6D93-616C18D578D0}"/>
              </a:ext>
            </a:extLst>
          </p:cNvPr>
          <p:cNvSpPr>
            <a:spLocks noGrp="1"/>
          </p:cNvSpPr>
          <p:nvPr>
            <p:ph type="title"/>
          </p:nvPr>
        </p:nvSpPr>
        <p:spPr/>
        <p:txBody>
          <a:bodyPr/>
          <a:lstStyle/>
          <a:p>
            <a:r>
              <a:rPr lang="nb-NO" b="1" dirty="0"/>
              <a:t>Customer Feedback Analysis</a:t>
            </a:r>
            <a:endParaRPr lang="en-IN" b="1" dirty="0"/>
          </a:p>
        </p:txBody>
      </p:sp>
      <p:sp>
        <p:nvSpPr>
          <p:cNvPr id="3" name="Content Placeholder 2">
            <a:extLst>
              <a:ext uri="{FF2B5EF4-FFF2-40B4-BE49-F238E27FC236}">
                <a16:creationId xmlns:a16="http://schemas.microsoft.com/office/drawing/2014/main" id="{5B9CDD63-9E03-CEB9-3257-08A7D05965DB}"/>
              </a:ext>
            </a:extLst>
          </p:cNvPr>
          <p:cNvSpPr>
            <a:spLocks noGrp="1"/>
          </p:cNvSpPr>
          <p:nvPr>
            <p:ph sz="half" idx="1"/>
          </p:nvPr>
        </p:nvSpPr>
        <p:spPr/>
        <p:txBody>
          <a:bodyPr>
            <a:normAutofit fontScale="40000" lnSpcReduction="20000"/>
          </a:bodyPr>
          <a:lstStyle/>
          <a:p>
            <a:pPr>
              <a:lnSpc>
                <a:spcPct val="170000"/>
              </a:lnSpc>
            </a:pPr>
            <a:r>
              <a:rPr lang="en-US" b="1" dirty="0"/>
              <a:t>Customer Ratings Distribution:</a:t>
            </a:r>
          </a:p>
          <a:p>
            <a:pPr lvl="1">
              <a:lnSpc>
                <a:spcPct val="170000"/>
              </a:lnSpc>
            </a:pPr>
            <a:r>
              <a:rPr lang="en-US" dirty="0"/>
              <a:t>The majority of customer reviews are in the higher ratings, with 431 reviews at 4 stars and 409 reviews at 5 stars, indicating overall positive feedback. Lower ratings (1-2 stars) account for a smaller proportion, with 80 reviews at 1 star and 153 reviews at 2 stars.</a:t>
            </a:r>
          </a:p>
          <a:p>
            <a:pPr>
              <a:lnSpc>
                <a:spcPct val="170000"/>
              </a:lnSpc>
            </a:pPr>
            <a:r>
              <a:rPr lang="en-US" b="1" dirty="0"/>
              <a:t>Sentiment Analysis:</a:t>
            </a:r>
          </a:p>
          <a:p>
            <a:pPr lvl="1">
              <a:lnSpc>
                <a:spcPct val="170000"/>
              </a:lnSpc>
            </a:pPr>
            <a:r>
              <a:rPr lang="en-US" dirty="0"/>
              <a:t>Positive sentiment dominates with 840 reviews, reflecting a generally satisfied customer base. Negative sentiment is present in 217 reviews, with a smaller number of mixed and neutral sentiments, suggesting some areas for improvement but overall strong customer approval.</a:t>
            </a:r>
          </a:p>
          <a:p>
            <a:pPr>
              <a:lnSpc>
                <a:spcPct val="170000"/>
              </a:lnSpc>
            </a:pPr>
            <a:r>
              <a:rPr lang="en-US" b="1" dirty="0"/>
              <a:t>Opportunity for Improvement:</a:t>
            </a:r>
          </a:p>
          <a:p>
            <a:pPr lvl="1">
              <a:lnSpc>
                <a:spcPct val="170000"/>
              </a:lnSpc>
            </a:pPr>
            <a:r>
              <a:rPr lang="en-US" dirty="0"/>
              <a:t>The presence of mixed positive and mixed negative sentiments suggests that there are opportunities to convert those mixed experiences into more clearly positive ones, potentially boosting overall ratings. Addressing the specific concerns in mixed reviews could elevate customer satisfaction.</a:t>
            </a:r>
            <a:endParaRPr lang="nb-NO" dirty="0"/>
          </a:p>
          <a:p>
            <a:endParaRPr lang="en-IN" dirty="0"/>
          </a:p>
        </p:txBody>
      </p:sp>
      <p:pic>
        <p:nvPicPr>
          <p:cNvPr id="6" name="Content Placeholder 5">
            <a:extLst>
              <a:ext uri="{FF2B5EF4-FFF2-40B4-BE49-F238E27FC236}">
                <a16:creationId xmlns:a16="http://schemas.microsoft.com/office/drawing/2014/main" id="{CF431C5F-65D0-A43C-DCB3-4B04C82CD015}"/>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830568" y="1825625"/>
            <a:ext cx="3840479" cy="1841500"/>
          </a:xfrm>
        </p:spPr>
      </p:pic>
      <p:pic>
        <p:nvPicPr>
          <p:cNvPr id="8" name="Picture 7">
            <a:extLst>
              <a:ext uri="{FF2B5EF4-FFF2-40B4-BE49-F238E27FC236}">
                <a16:creationId xmlns:a16="http://schemas.microsoft.com/office/drawing/2014/main" id="{65A9848E-3351-6B74-19FF-6D83A3776B6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04943" y="3802061"/>
            <a:ext cx="4091728" cy="2278699"/>
          </a:xfrm>
          <a:prstGeom prst="rect">
            <a:avLst/>
          </a:prstGeom>
        </p:spPr>
      </p:pic>
    </p:spTree>
    <p:extLst>
      <p:ext uri="{BB962C8B-B14F-4D97-AF65-F5344CB8AC3E}">
        <p14:creationId xmlns:p14="http://schemas.microsoft.com/office/powerpoint/2010/main" val="3430968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0DA3DC-A8D8-3DA7-80FF-82D1AC0258F2}"/>
              </a:ext>
            </a:extLst>
          </p:cNvPr>
          <p:cNvSpPr>
            <a:spLocks noGrp="1"/>
          </p:cNvSpPr>
          <p:nvPr>
            <p:ph type="title"/>
          </p:nvPr>
        </p:nvSpPr>
        <p:spPr/>
        <p:txBody>
          <a:bodyPr/>
          <a:lstStyle/>
          <a:p>
            <a:r>
              <a:rPr lang="nb-NO" b="1" dirty="0"/>
              <a:t>Goals &amp; Actions</a:t>
            </a:r>
            <a:endParaRPr lang="en-IN" b="1" dirty="0"/>
          </a:p>
        </p:txBody>
      </p:sp>
      <p:sp>
        <p:nvSpPr>
          <p:cNvPr id="3" name="Text Placeholder 2">
            <a:extLst>
              <a:ext uri="{FF2B5EF4-FFF2-40B4-BE49-F238E27FC236}">
                <a16:creationId xmlns:a16="http://schemas.microsoft.com/office/drawing/2014/main" id="{A2002B7F-CE78-951E-10F6-CB4A23447977}"/>
              </a:ext>
            </a:extLst>
          </p:cNvPr>
          <p:cNvSpPr>
            <a:spLocks noGrp="1"/>
          </p:cNvSpPr>
          <p:nvPr>
            <p:ph type="body" idx="1"/>
          </p:nvPr>
        </p:nvSpPr>
        <p:spPr>
          <a:xfrm>
            <a:off x="839788" y="1681163"/>
            <a:ext cx="5157787" cy="613981"/>
          </a:xfrm>
        </p:spPr>
        <p:txBody>
          <a:bodyPr/>
          <a:lstStyle/>
          <a:p>
            <a:r>
              <a:rPr lang="en-US" dirty="0"/>
              <a:t>Goals</a:t>
            </a:r>
            <a:endParaRPr lang="en-IN" dirty="0"/>
          </a:p>
        </p:txBody>
      </p:sp>
      <p:sp>
        <p:nvSpPr>
          <p:cNvPr id="4" name="Content Placeholder 3">
            <a:extLst>
              <a:ext uri="{FF2B5EF4-FFF2-40B4-BE49-F238E27FC236}">
                <a16:creationId xmlns:a16="http://schemas.microsoft.com/office/drawing/2014/main" id="{62C65BF0-2F5A-1961-AAAE-92CA28A2AFC2}"/>
              </a:ext>
            </a:extLst>
          </p:cNvPr>
          <p:cNvSpPr>
            <a:spLocks noGrp="1"/>
          </p:cNvSpPr>
          <p:nvPr>
            <p:ph sz="half" idx="2"/>
          </p:nvPr>
        </p:nvSpPr>
        <p:spPr>
          <a:xfrm>
            <a:off x="839788" y="2505076"/>
            <a:ext cx="5157787" cy="3859148"/>
          </a:xfrm>
        </p:spPr>
        <p:txBody>
          <a:bodyPr>
            <a:noAutofit/>
          </a:bodyPr>
          <a:lstStyle/>
          <a:p>
            <a:pPr>
              <a:lnSpc>
                <a:spcPct val="170000"/>
              </a:lnSpc>
            </a:pPr>
            <a:r>
              <a:rPr lang="en-US" sz="900" b="1" dirty="0"/>
              <a:t>Increase Conversion Rates:</a:t>
            </a:r>
          </a:p>
          <a:p>
            <a:pPr lvl="1">
              <a:lnSpc>
                <a:spcPct val="170000"/>
              </a:lnSpc>
            </a:pPr>
            <a:r>
              <a:rPr lang="en-US" sz="900" b="1" dirty="0"/>
              <a:t>Goal: </a:t>
            </a:r>
            <a:r>
              <a:rPr lang="en-US" sz="900" dirty="0"/>
              <a:t>Identify factors impacting the conversion rate and provide recommendations to improve it.</a:t>
            </a:r>
          </a:p>
          <a:p>
            <a:pPr lvl="1">
              <a:lnSpc>
                <a:spcPct val="170000"/>
              </a:lnSpc>
            </a:pPr>
            <a:r>
              <a:rPr lang="en-US" sz="900" b="1" dirty="0"/>
              <a:t>Insight: </a:t>
            </a:r>
            <a:r>
              <a:rPr lang="en-US" sz="900" dirty="0"/>
              <a:t>Highlight key stages where visitors drop off and suggest improvements to optimize the conversion funnel.</a:t>
            </a:r>
          </a:p>
          <a:p>
            <a:pPr>
              <a:lnSpc>
                <a:spcPct val="170000"/>
              </a:lnSpc>
            </a:pPr>
            <a:r>
              <a:rPr lang="en-US" sz="900" b="1" dirty="0"/>
              <a:t>Enhance Customer Engagement:</a:t>
            </a:r>
            <a:endParaRPr lang="en-US" sz="900" dirty="0"/>
          </a:p>
          <a:p>
            <a:pPr lvl="1">
              <a:lnSpc>
                <a:spcPct val="170000"/>
              </a:lnSpc>
            </a:pPr>
            <a:r>
              <a:rPr lang="en-US" sz="900" b="1" dirty="0"/>
              <a:t>Goal:</a:t>
            </a:r>
            <a:r>
              <a:rPr lang="en-US" sz="900" dirty="0"/>
              <a:t> Determine which types of content drive the highest engagement. </a:t>
            </a:r>
          </a:p>
          <a:p>
            <a:pPr lvl="1">
              <a:lnSpc>
                <a:spcPct val="170000"/>
              </a:lnSpc>
            </a:pPr>
            <a:r>
              <a:rPr lang="en-US" sz="900" b="1" dirty="0"/>
              <a:t>Insight:</a:t>
            </a:r>
            <a:r>
              <a:rPr lang="en-US" sz="900" dirty="0"/>
              <a:t> Analyze interaction levels with different types of marketing content to inform better content strategies.</a:t>
            </a:r>
          </a:p>
          <a:p>
            <a:pPr>
              <a:lnSpc>
                <a:spcPct val="170000"/>
              </a:lnSpc>
            </a:pPr>
            <a:r>
              <a:rPr lang="en-US" sz="900" b="1" dirty="0"/>
              <a:t>Improve Customer Feedback Scores:</a:t>
            </a:r>
            <a:endParaRPr lang="en-US" sz="900" dirty="0"/>
          </a:p>
          <a:p>
            <a:pPr lvl="1">
              <a:lnSpc>
                <a:spcPct val="170000"/>
              </a:lnSpc>
            </a:pPr>
            <a:r>
              <a:rPr lang="en-US" sz="900" b="1" dirty="0"/>
              <a:t>Goal:</a:t>
            </a:r>
            <a:r>
              <a:rPr lang="en-US" sz="900" dirty="0"/>
              <a:t> Understand common themes in customer reviews and provide actionable insights.</a:t>
            </a:r>
          </a:p>
          <a:p>
            <a:pPr lvl="1">
              <a:lnSpc>
                <a:spcPct val="170000"/>
              </a:lnSpc>
            </a:pPr>
            <a:r>
              <a:rPr lang="en-US" sz="900" b="1" dirty="0"/>
              <a:t>Insight:</a:t>
            </a:r>
            <a:r>
              <a:rPr lang="en-US" sz="900" dirty="0"/>
              <a:t> Identify recurring positive and negative feedback to guide product and service improvements.</a:t>
            </a:r>
          </a:p>
          <a:p>
            <a:endParaRPr lang="en-IN" sz="900" dirty="0"/>
          </a:p>
        </p:txBody>
      </p:sp>
      <p:sp>
        <p:nvSpPr>
          <p:cNvPr id="5" name="Text Placeholder 4">
            <a:extLst>
              <a:ext uri="{FF2B5EF4-FFF2-40B4-BE49-F238E27FC236}">
                <a16:creationId xmlns:a16="http://schemas.microsoft.com/office/drawing/2014/main" id="{D2AAC0D3-98D5-5684-06FB-C59DAC75A160}"/>
              </a:ext>
            </a:extLst>
          </p:cNvPr>
          <p:cNvSpPr>
            <a:spLocks noGrp="1"/>
          </p:cNvSpPr>
          <p:nvPr>
            <p:ph type="body" sz="quarter" idx="3"/>
          </p:nvPr>
        </p:nvSpPr>
        <p:spPr>
          <a:xfrm>
            <a:off x="6172200" y="1681163"/>
            <a:ext cx="5183188" cy="613981"/>
          </a:xfrm>
        </p:spPr>
        <p:txBody>
          <a:bodyPr/>
          <a:lstStyle/>
          <a:p>
            <a:r>
              <a:rPr lang="en-US" dirty="0"/>
              <a:t>Actions</a:t>
            </a:r>
            <a:endParaRPr lang="en-IN" dirty="0"/>
          </a:p>
        </p:txBody>
      </p:sp>
      <p:sp>
        <p:nvSpPr>
          <p:cNvPr id="6" name="Content Placeholder 5">
            <a:extLst>
              <a:ext uri="{FF2B5EF4-FFF2-40B4-BE49-F238E27FC236}">
                <a16:creationId xmlns:a16="http://schemas.microsoft.com/office/drawing/2014/main" id="{2E79AA85-9EB5-7CAF-BEAF-AE7F205F4470}"/>
              </a:ext>
            </a:extLst>
          </p:cNvPr>
          <p:cNvSpPr>
            <a:spLocks noGrp="1"/>
          </p:cNvSpPr>
          <p:nvPr>
            <p:ph sz="quarter" idx="4"/>
          </p:nvPr>
        </p:nvSpPr>
        <p:spPr>
          <a:xfrm>
            <a:off x="6172200" y="2505074"/>
            <a:ext cx="5183188" cy="3859147"/>
          </a:xfrm>
        </p:spPr>
        <p:txBody>
          <a:bodyPr>
            <a:noAutofit/>
          </a:bodyPr>
          <a:lstStyle/>
          <a:p>
            <a:pPr>
              <a:lnSpc>
                <a:spcPct val="120000"/>
              </a:lnSpc>
            </a:pPr>
            <a:r>
              <a:rPr lang="nb-NO" sz="900" b="1" dirty="0"/>
              <a:t>Increase Conversion Rates:</a:t>
            </a:r>
          </a:p>
          <a:p>
            <a:pPr lvl="1">
              <a:lnSpc>
                <a:spcPct val="120000"/>
              </a:lnSpc>
            </a:pPr>
            <a:r>
              <a:rPr lang="en-US" sz="900" b="1" u="sng" dirty="0"/>
              <a:t>Target High-Performing Product Categories</a:t>
            </a:r>
            <a:r>
              <a:rPr lang="en-US" sz="900" b="1" dirty="0"/>
              <a:t>: </a:t>
            </a:r>
            <a:r>
              <a:rPr lang="en-US" sz="900" dirty="0"/>
              <a:t>Focus marketing efforts on products with demonstrated high conversion rates, such as Kayaks, Ski Boots, and Baseball Gloves. Implement seasonal promotions or personalized campaigns during peak months (e.g., January and September) to capitalize on these trends.</a:t>
            </a:r>
          </a:p>
          <a:p>
            <a:pPr lvl="1">
              <a:lnSpc>
                <a:spcPct val="120000"/>
              </a:lnSpc>
            </a:pPr>
            <a:endParaRPr lang="nb-NO" sz="900" dirty="0"/>
          </a:p>
          <a:p>
            <a:pPr>
              <a:lnSpc>
                <a:spcPct val="120000"/>
              </a:lnSpc>
            </a:pPr>
            <a:r>
              <a:rPr lang="nb-NO" sz="900" b="1" dirty="0"/>
              <a:t>Enhance Customer Engagement:</a:t>
            </a:r>
          </a:p>
          <a:p>
            <a:pPr lvl="1">
              <a:lnSpc>
                <a:spcPct val="120000"/>
              </a:lnSpc>
            </a:pPr>
            <a:r>
              <a:rPr lang="en-US" sz="900" b="1" u="sng" dirty="0"/>
              <a:t>Revitalize Content Strategy</a:t>
            </a:r>
            <a:r>
              <a:rPr lang="en-US" sz="900" dirty="0"/>
              <a:t>: To turn around declining views and low interaction rates, experiment with more engaging content formats, such as interactive videos or user-generated content. Additionally, boost engagement by optimizing call-to-action placement in social media and blog content, particularly during historically lower-engagement months (Later Half Year).</a:t>
            </a:r>
          </a:p>
          <a:p>
            <a:pPr lvl="1">
              <a:lnSpc>
                <a:spcPct val="120000"/>
              </a:lnSpc>
            </a:pPr>
            <a:endParaRPr lang="nb-NO" sz="900" dirty="0"/>
          </a:p>
          <a:p>
            <a:pPr>
              <a:lnSpc>
                <a:spcPct val="120000"/>
              </a:lnSpc>
            </a:pPr>
            <a:r>
              <a:rPr lang="nb-NO" sz="900" b="1" dirty="0"/>
              <a:t>Improve Customer Feedback Scores:</a:t>
            </a:r>
          </a:p>
          <a:p>
            <a:pPr lvl="1">
              <a:lnSpc>
                <a:spcPct val="120000"/>
              </a:lnSpc>
            </a:pPr>
            <a:r>
              <a:rPr lang="en-US" sz="900" b="1" u="sng" dirty="0"/>
              <a:t>Address Mixed and Negative Feedback</a:t>
            </a:r>
            <a:r>
              <a:rPr lang="en-US" sz="900" u="sng" dirty="0"/>
              <a:t>: </a:t>
            </a:r>
            <a:r>
              <a:rPr lang="en-US" sz="900" dirty="0"/>
              <a:t>Implement a feedback loop where mixed and negative reviews are analyzed to identify common issues. Develop improvement plans to address these concerns. Consider following up with dissatisfied customers to resolve issues and encourage re-rating, aiming to move average ratings closer to the 4.0 target.</a:t>
            </a:r>
            <a:endParaRPr lang="nb-NO" sz="900" dirty="0"/>
          </a:p>
        </p:txBody>
      </p:sp>
    </p:spTree>
    <p:extLst>
      <p:ext uri="{BB962C8B-B14F-4D97-AF65-F5344CB8AC3E}">
        <p14:creationId xmlns:p14="http://schemas.microsoft.com/office/powerpoint/2010/main" val="11989965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104</TotalTime>
  <Words>1405</Words>
  <Application>Microsoft Office PowerPoint</Application>
  <PresentationFormat>Widescreen</PresentationFormat>
  <Paragraphs>86</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Calibri Light</vt:lpstr>
      <vt:lpstr>Office Theme</vt:lpstr>
      <vt:lpstr>Marketing Analytics </vt:lpstr>
      <vt:lpstr>Introduction to Business Problem</vt:lpstr>
      <vt:lpstr>Subject: Request for Data Analysis to Improve Marketing Strategy</vt:lpstr>
      <vt:lpstr>Subject: Request for Data Analysis to Improve Marketing Strategy</vt:lpstr>
      <vt:lpstr>Key Performance Indicators (KPIs)</vt:lpstr>
      <vt:lpstr>Goals</vt:lpstr>
      <vt:lpstr>Overview</vt:lpstr>
      <vt:lpstr>Decreased Conversion Rates</vt:lpstr>
      <vt:lpstr>Reduced Customer Engagement</vt:lpstr>
      <vt:lpstr>Customer Feedback Analysis</vt:lpstr>
      <vt:lpstr>Goals &amp; Actions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Soloman Londhe</dc:creator>
  <cp:lastModifiedBy>Soloman Londhe</cp:lastModifiedBy>
  <cp:revision>1</cp:revision>
  <dcterms:created xsi:type="dcterms:W3CDTF">2026-01-15T07:21:34Z</dcterms:created>
  <dcterms:modified xsi:type="dcterms:W3CDTF">2026-01-15T09:05:41Z</dcterms:modified>
</cp:coreProperties>
</file>